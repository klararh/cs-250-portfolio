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9FD8D-72A8-2BEF-69F1-124199340EC1}" v="382" dt="2026-10-18T17:21:0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23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934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184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139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208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198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16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86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513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71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139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690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364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879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116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269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968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27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143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8017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7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30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9020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7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7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7725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  <p:sldLayoutId id="2147483857" r:id="rId28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100" b="1"/>
              <a:t>Transitioning to Scrum-Agile:</a:t>
            </a:r>
            <a:br>
              <a:rPr lang="en-US" sz="3100" b="1" dirty="0"/>
            </a:br>
            <a:r>
              <a:rPr lang="en-US" sz="3100" b="1"/>
              <a:t>SNHU Travel Project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4062249" y="4413468"/>
            <a:ext cx="4067503" cy="11540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/>
              <a:t>Agile Presentation for </a:t>
            </a:r>
            <a:r>
              <a:rPr lang="en-US" b="0"/>
              <a:t>Chada Tech</a:t>
            </a:r>
            <a:endParaRPr lang="en-US" b="0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839081E-1CD0-2927-F269-1C9C4ACD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9FDAD2F-0E93-40B6-9D53-5CD4BD8410F8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03C0DC4-FB28-9B2E-1858-4CFC7A4F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B19822E-3701-C42D-DD23-7FC781C4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80266-6489-D2B6-73D5-60693DC79268}"/>
              </a:ext>
            </a:extLst>
          </p:cNvPr>
          <p:cNvSpPr txBox="1"/>
          <p:nvPr/>
        </p:nvSpPr>
        <p:spPr>
          <a:xfrm>
            <a:off x="300180" y="311727"/>
            <a:ext cx="36599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Klara Jamil</a:t>
            </a:r>
          </a:p>
          <a:p>
            <a:r>
              <a:rPr lang="en-US"/>
              <a:t>  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181D5-EF95-7DA6-CE54-97E39325B713}"/>
              </a:ext>
            </a:extLst>
          </p:cNvPr>
          <p:cNvSpPr txBox="1"/>
          <p:nvPr/>
        </p:nvSpPr>
        <p:spPr>
          <a:xfrm>
            <a:off x="300181" y="588818"/>
            <a:ext cx="4895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rade Gothic Next Light"/>
              </a:rPr>
              <a:t>CS-250: Software Development </a:t>
            </a:r>
            <a:r>
              <a:rPr lang="en-US" dirty="0">
                <a:latin typeface="Trade Gothic Next Light"/>
              </a:rPr>
              <a:t>Lifecycle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2182E-4B40-F6E6-1B20-70979A66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1199F-06E8-1730-ED30-5C4B0631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6F38-F442-48CF-87F0-A3E40A4C4933}" type="datetime1">
              <a:rPr lang="en-US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8B6B-C454-7028-37E0-F6A17CBD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803E1-68E7-F260-4E33-DD7FFD9ED6A7}"/>
              </a:ext>
            </a:extLst>
          </p:cNvPr>
          <p:cNvSpPr txBox="1"/>
          <p:nvPr/>
        </p:nvSpPr>
        <p:spPr>
          <a:xfrm>
            <a:off x="734290" y="1925782"/>
            <a:ext cx="3449781" cy="39762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481BC4B-0653-9669-F348-F067C4F24D8F}"/>
              </a:ext>
            </a:extLst>
          </p:cNvPr>
          <p:cNvSpPr/>
          <p:nvPr/>
        </p:nvSpPr>
        <p:spPr>
          <a:xfrm>
            <a:off x="327833" y="1823879"/>
            <a:ext cx="4956035" cy="214745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1" i="0" u="none" strike="noStrike" baseline="0">
                <a:solidFill>
                  <a:srgbClr val="0D0D0D"/>
                </a:solidFill>
                <a:latin typeface="Avenir Next LT Pro"/>
              </a:rPr>
              <a:t>Product Owner</a:t>
            </a:r>
            <a:r>
              <a:rPr lang="en-US" sz="1800" b="1" i="0">
                <a:solidFill>
                  <a:srgbClr val="000000"/>
                </a:solidFill>
                <a:latin typeface="Avenir Next LT Pro"/>
                <a:ea typeface="Avenir Next LT Pro"/>
                <a:cs typeface="Avenir Next LT Pro"/>
              </a:rPr>
              <a:t>​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Manages and prioritizes customer user stories.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Defines the products overall goals and visions 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Acts as the primary voice of customers and stakeholders.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AFAB40DD-778D-CCC6-BAC3-43E56BDB8FFD}"/>
              </a:ext>
            </a:extLst>
          </p:cNvPr>
          <p:cNvSpPr/>
          <p:nvPr/>
        </p:nvSpPr>
        <p:spPr>
          <a:xfrm>
            <a:off x="5484395" y="1813851"/>
            <a:ext cx="5808273" cy="2147454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Scrum Master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Serves as a leader.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Guides the team with Agile values and practices.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Guides the teams' ceremonies (Sprints, retrospectives, and planning.)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Quickly eliminates team roadblocks.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CCD0DB52-737B-138C-050A-0710FBE65012}"/>
              </a:ext>
            </a:extLst>
          </p:cNvPr>
          <p:cNvSpPr/>
          <p:nvPr/>
        </p:nvSpPr>
        <p:spPr>
          <a:xfrm>
            <a:off x="323880" y="4119297"/>
            <a:ext cx="4946011" cy="214745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Developers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Design, builds, and write software features.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Self-organize and estimates the tasks duration.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Deliver a functional and working software, by the end of every sprint. 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382BC3D5-4BD9-C414-4B68-3AF8B16B3DD6}"/>
              </a:ext>
            </a:extLst>
          </p:cNvPr>
          <p:cNvSpPr/>
          <p:nvPr/>
        </p:nvSpPr>
        <p:spPr>
          <a:xfrm>
            <a:off x="5481357" y="4109272"/>
            <a:ext cx="5808271" cy="214745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Testers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Ensures software is high-quality 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Catch bugs and mistakes early in the sprint cycle.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Tests features to ensure they work as intended.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verify the final product meets the clients Requirements.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2" name="Minus Sign 1">
            <a:extLst>
              <a:ext uri="{FF2B5EF4-FFF2-40B4-BE49-F238E27FC236}">
                <a16:creationId xmlns:a16="http://schemas.microsoft.com/office/drawing/2014/main" id="{D206B769-4407-506D-B9F6-F733AE5DD99A}"/>
              </a:ext>
            </a:extLst>
          </p:cNvPr>
          <p:cNvSpPr/>
          <p:nvPr/>
        </p:nvSpPr>
        <p:spPr>
          <a:xfrm>
            <a:off x="257341" y="-912"/>
            <a:ext cx="10460181" cy="2366818"/>
          </a:xfrm>
          <a:prstGeom prst="mathMinu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Agile Roles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17427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14ADD-3FEB-F1E9-DE5E-EADE7734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013B-77A3-E915-2A37-0F365BF8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749A-10CD-4F8C-A7D8-69D3A645D62C}" type="datetime1"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36B06-87CC-B050-4731-25CA926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3</a:t>
            </a:fld>
            <a:endParaRPr lang="en-US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42D228C-C5D4-2505-9BB8-ED34AEF85BE9}"/>
              </a:ext>
            </a:extLst>
          </p:cNvPr>
          <p:cNvSpPr/>
          <p:nvPr/>
        </p:nvSpPr>
        <p:spPr>
          <a:xfrm>
            <a:off x="570285" y="1493616"/>
            <a:ext cx="4702036" cy="2586485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Backlog (Phase 1)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Client's requrinments are broken down into detailed user stories.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User stories are prioritized based on business value.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Estimation for the efforts and work that's needed for each story.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36FED81-D324-040A-0F5A-3F123E1B2336}"/>
              </a:ext>
            </a:extLst>
          </p:cNvPr>
          <p:cNvSpPr/>
          <p:nvPr/>
        </p:nvSpPr>
        <p:spPr>
          <a:xfrm>
            <a:off x="569678" y="4210444"/>
            <a:ext cx="4699606" cy="2329750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Sprint Planning (Phase 2)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Choose high priority user stories from backlog.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Define a clear Sprint Goal.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Agree on what a final task looks like.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4A2D1E3-EDEC-A1C0-B86A-90C8FA3E81C9}"/>
              </a:ext>
            </a:extLst>
          </p:cNvPr>
          <p:cNvSpPr/>
          <p:nvPr/>
        </p:nvSpPr>
        <p:spPr>
          <a:xfrm>
            <a:off x="6093265" y="1497263"/>
            <a:ext cx="4946010" cy="2579496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Sprint Execution (Phase 3)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Hold 15 minute daily standup meetings to report progress.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Build, write, and test software continuously.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Track progress and clear roadblocks using Scrum board.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039684B8-EBC6-0B2F-03E2-43ADE2179095}"/>
              </a:ext>
            </a:extLst>
          </p:cNvPr>
          <p:cNvSpPr/>
          <p:nvPr/>
        </p:nvSpPr>
        <p:spPr>
          <a:xfrm>
            <a:off x="6098735" y="4207710"/>
            <a:ext cx="4943882" cy="2328838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Retrospective (Phase 4)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Show the working software to stakeholders for feedback.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Use feedback to improve and make a better product.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Discuss ways the team could do better in the next sprint.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F02CDEFC-94FD-D9A4-71D6-1B4123EAAC29}"/>
              </a:ext>
            </a:extLst>
          </p:cNvPr>
          <p:cNvSpPr/>
          <p:nvPr/>
        </p:nvSpPr>
        <p:spPr>
          <a:xfrm>
            <a:off x="318715" y="105428"/>
            <a:ext cx="10719042" cy="2155049"/>
          </a:xfrm>
          <a:prstGeom prst="mathMinu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Agile SDLC Execution Phases</a:t>
            </a:r>
          </a:p>
        </p:txBody>
      </p:sp>
    </p:spTree>
    <p:extLst>
      <p:ext uri="{BB962C8B-B14F-4D97-AF65-F5344CB8AC3E}">
        <p14:creationId xmlns:p14="http://schemas.microsoft.com/office/powerpoint/2010/main" val="47815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72B6E-717B-7F35-9846-9F954991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046B4-C97A-99BC-9A03-D597EA61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0301-7F80-4CFB-A3BB-31F73EC26924}" type="datetime1"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F626B-8F50-7B86-FA18-25DE49C8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4</a:t>
            </a:fld>
            <a:endParaRPr lang="en-US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9EF9818E-A42F-6F08-E5F0-A4526351F541}"/>
              </a:ext>
            </a:extLst>
          </p:cNvPr>
          <p:cNvSpPr/>
          <p:nvPr/>
        </p:nvSpPr>
        <p:spPr>
          <a:xfrm>
            <a:off x="611908" y="1974272"/>
            <a:ext cx="4491181" cy="428336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Waterfall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Follows a fixed step by step, from start to end.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Testing occurs only at the end of the project.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Making changes after the project begins is difficult.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Customer recieves the final product all at once at the end. 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B6BACD0B-4157-0662-3765-D6C13F981BD4}"/>
              </a:ext>
            </a:extLst>
          </p:cNvPr>
          <p:cNvSpPr/>
          <p:nvPr/>
        </p:nvSpPr>
        <p:spPr>
          <a:xfrm>
            <a:off x="6327821" y="1974273"/>
            <a:ext cx="4493004" cy="4283667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Scrum-Agile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The Scrum framework works in short cycles called sprints which last 1-4 weeks.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Much easier to change features based on client's feedback.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Testing is taking place continuously during every Sprint.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Software gets delivered early. 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  <p:sp>
        <p:nvSpPr>
          <p:cNvPr id="15" name="Minus Sign 14">
            <a:extLst>
              <a:ext uri="{FF2B5EF4-FFF2-40B4-BE49-F238E27FC236}">
                <a16:creationId xmlns:a16="http://schemas.microsoft.com/office/drawing/2014/main" id="{532BF2C1-7AE8-3D74-C8D2-546C0571C9A9}"/>
              </a:ext>
            </a:extLst>
          </p:cNvPr>
          <p:cNvSpPr/>
          <p:nvPr/>
        </p:nvSpPr>
        <p:spPr>
          <a:xfrm>
            <a:off x="405002" y="-82641"/>
            <a:ext cx="10887363" cy="2493818"/>
          </a:xfrm>
          <a:prstGeom prst="mathMinu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Waterfall vs Scrum-Agile</a:t>
            </a:r>
          </a:p>
        </p:txBody>
      </p:sp>
    </p:spTree>
    <p:extLst>
      <p:ext uri="{BB962C8B-B14F-4D97-AF65-F5344CB8AC3E}">
        <p14:creationId xmlns:p14="http://schemas.microsoft.com/office/powerpoint/2010/main" val="4038279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F37EC-0B70-8A54-1CF6-0E9BDFEC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4761-158F-4AE7-2C0B-83A3330C1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82F5-CBF2-4C09-B913-AD4F041DABE0}" type="datetime1"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A1B73-CB12-CF94-6610-9271B6F9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5</a:t>
            </a:fld>
            <a:endParaRPr lang="en-US" dirty="0"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B393104B-740B-4E3A-D587-710A1E4CF35E}"/>
              </a:ext>
            </a:extLst>
          </p:cNvPr>
          <p:cNvSpPr/>
          <p:nvPr/>
        </p:nvSpPr>
        <p:spPr>
          <a:xfrm>
            <a:off x="577272" y="207818"/>
            <a:ext cx="9559636" cy="2043545"/>
          </a:xfrm>
          <a:prstGeom prst="mathMinu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Waterfall VS Agile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EA15888C-9F37-96CA-E15D-E52BDB425ACE}"/>
              </a:ext>
            </a:extLst>
          </p:cNvPr>
          <p:cNvSpPr/>
          <p:nvPr/>
        </p:nvSpPr>
        <p:spPr>
          <a:xfrm>
            <a:off x="319695" y="2461030"/>
            <a:ext cx="3222171" cy="2928257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D0D0D"/>
                </a:solidFill>
                <a:latin typeface="Avenir Next LT Pro"/>
              </a:rPr>
              <a:t>Certainty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: </a:t>
            </a:r>
            <a:endParaRPr lang="en-US" sz="1400" b="1"/>
          </a:p>
          <a:p>
            <a:pPr marL="285750" indent="-285750" algn="ctr">
              <a:buFont typeface="Arial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Waterfall: This framework works well when changes will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not occur, the requirements are known and fixed.</a:t>
            </a:r>
          </a:p>
          <a:p>
            <a:pPr marL="285750" indent="-285750" algn="ctr">
              <a:buFont typeface="Arial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Agile: This framework works well when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requirements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 are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evolving, changes, testing with users is needed.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483A01DE-442B-2342-2C79-B344B5E40C56}"/>
              </a:ext>
            </a:extLst>
          </p:cNvPr>
          <p:cNvSpPr/>
          <p:nvPr/>
        </p:nvSpPr>
        <p:spPr>
          <a:xfrm>
            <a:off x="4152613" y="2460171"/>
            <a:ext cx="3298371" cy="293656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D0D0D"/>
                </a:solidFill>
                <a:latin typeface="Avenir Next LT Pro"/>
              </a:rPr>
              <a:t>Involvements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: </a:t>
            </a:r>
          </a:p>
          <a:p>
            <a:pPr marL="285750" indent="-285750" algn="ctr">
              <a:buFont typeface="Arial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Waterfall:  Stakeholders are  involved only in beginning of the planning and the end of the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finished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 product. </a:t>
            </a:r>
          </a:p>
          <a:p>
            <a:pPr marL="285750" indent="-285750" algn="ctr">
              <a:buFont typeface="Arial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Agile: Stakeholders are always involved with the team through the 2-week Sprint Review and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providing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 feedbacks. 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49C5AD4-C89B-9983-228C-BFBC35D94F92}"/>
              </a:ext>
            </a:extLst>
          </p:cNvPr>
          <p:cNvSpPr/>
          <p:nvPr/>
        </p:nvSpPr>
        <p:spPr>
          <a:xfrm>
            <a:off x="7960322" y="2460171"/>
            <a:ext cx="3331028" cy="2936563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The one that best fits the SNHU Travel application would be Agile. The reason for this is because this software deals with interruptions,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feature changes, and third-party API updates, these things require</a:t>
            </a:r>
            <a:r>
              <a:rPr lang="en-US" sz="1400" b="1" dirty="0">
                <a:solidFill>
                  <a:srgbClr val="0D0D0D"/>
                </a:solidFill>
                <a:latin typeface="Avenir Next LT Pro"/>
              </a:rPr>
              <a:t> short </a:t>
            </a:r>
            <a:r>
              <a:rPr lang="en-US" sz="1400" b="1">
                <a:solidFill>
                  <a:srgbClr val="0D0D0D"/>
                </a:solidFill>
                <a:latin typeface="Avenir Next LT Pro"/>
              </a:rPr>
              <a:t>sprints rather than a risky plan. </a:t>
            </a:r>
            <a:endParaRPr lang="en-US" sz="1400" b="1" dirty="0">
              <a:solidFill>
                <a:srgbClr val="0D0D0D"/>
              </a:solidFill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297823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6EC8A-FC9B-3104-8D65-81B2E717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DF05-0713-BEBB-D3AD-FE0C5EA6F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A671-27AC-4F48-B2DB-BBC4B8A3DA51}" type="datetime1"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CD62A-0F2C-6A52-F5D4-CF7EFC51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6</a:t>
            </a:fld>
            <a:endParaRPr lang="en-US" dirty="0"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51F428B0-F93A-92D4-0FE3-92BCDF9A002B}"/>
              </a:ext>
            </a:extLst>
          </p:cNvPr>
          <p:cNvSpPr/>
          <p:nvPr/>
        </p:nvSpPr>
        <p:spPr>
          <a:xfrm>
            <a:off x="761999" y="-103909"/>
            <a:ext cx="10286999" cy="2563090"/>
          </a:xfrm>
          <a:prstGeom prst="mathMinu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D0D0D"/>
                </a:solidFill>
                <a:latin typeface="Avenir Next LT Pro"/>
              </a:rPr>
              <a:t>References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8821B381-4C50-08AD-AC8C-7C1171CFEC12}"/>
              </a:ext>
            </a:extLst>
          </p:cNvPr>
          <p:cNvSpPr/>
          <p:nvPr/>
        </p:nvSpPr>
        <p:spPr>
          <a:xfrm>
            <a:off x="115455" y="1720271"/>
            <a:ext cx="11834089" cy="4872182"/>
          </a:xfrm>
          <a:prstGeom prst="flowChartProcess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Cobb, C. G. (2023).</a:t>
            </a:r>
            <a:r>
              <a:rPr lang="en-US" dirty="0">
                <a:solidFill>
                  <a:srgbClr val="0D0D0D"/>
                </a:solidFill>
                <a:latin typeface="Avenir Next LT Pro"/>
              </a:rPr>
              <a:t> </a:t>
            </a:r>
            <a:r>
              <a:rPr lang="en-US">
                <a:solidFill>
                  <a:srgbClr val="0D0D0D"/>
                </a:solidFill>
                <a:latin typeface="Avenir Next LT Pro"/>
              </a:rPr>
              <a:t>The project manager's guide to mastering Agile: Principles and practices for an adaptive approach</a:t>
            </a:r>
            <a:r>
              <a:rPr lang="en-US" dirty="0">
                <a:solidFill>
                  <a:srgbClr val="0D0D0D"/>
                </a:solidFill>
                <a:latin typeface="Avenir Next LT Pro"/>
              </a:rPr>
              <a:t> </a:t>
            </a:r>
            <a:r>
              <a:rPr lang="en-US">
                <a:solidFill>
                  <a:srgbClr val="0D0D0D"/>
                </a:solidFill>
                <a:latin typeface="Avenir Next LT Pro"/>
              </a:rPr>
              <a:t>(2nd ed.). John Wiley &amp; 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Errida, A., &amp; Lotfi, B. (2021). The determinants of organizational change management success: Literature review and case study. International Journal of Engineering Business Management, 13, 1–15.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Raza, M. (2025).</a:t>
            </a:r>
            <a:r>
              <a:rPr lang="en-US" dirty="0">
                <a:solidFill>
                  <a:srgbClr val="0D0D0D"/>
                </a:solidFill>
                <a:latin typeface="Avenir Next LT Pro"/>
              </a:rPr>
              <a:t> </a:t>
            </a:r>
            <a:r>
              <a:rPr lang="en-US">
                <a:solidFill>
                  <a:srgbClr val="0D0D0D"/>
                </a:solidFill>
                <a:latin typeface="Avenir Next LT Pro"/>
              </a:rPr>
              <a:t>Agile vs. Waterfall: What's the difference? BMC Software Blogs.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Schwaber, K., &amp; Sutherland, J. (2021).</a:t>
            </a:r>
            <a:r>
              <a:rPr lang="en-US" dirty="0">
                <a:solidFill>
                  <a:srgbClr val="0D0D0D"/>
                </a:solidFill>
                <a:latin typeface="Avenir Next LT Pro"/>
              </a:rPr>
              <a:t> </a:t>
            </a:r>
            <a:r>
              <a:rPr lang="en-US">
                <a:solidFill>
                  <a:srgbClr val="0D0D0D"/>
                </a:solidFill>
                <a:latin typeface="Avenir Next LT Pro"/>
              </a:rPr>
              <a:t>The Scrum Guide. Scrum.org.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Avenir Next LT Pro"/>
              </a:rPr>
              <a:t>Siewert, L., &amp; Gericke, K. (2025). Impact, benefits and challenges of agile development: An explorative study. Proceedings of the Design Society, 5, 2377–2386.</a:t>
            </a:r>
            <a:endParaRPr lang="en-US" dirty="0">
              <a:solidFill>
                <a:srgbClr val="0D0D0D"/>
              </a:solidFill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39063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9B7F-D366-5A7C-6642-6C0AFC9B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End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1113F-2DC7-4598-E3DB-66157448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35F3E-7342-526B-4A39-AE118B71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0D94D29-22A9-4D35-9370-B2432B2A233A}" type="datetime1">
              <a:rPr lang="en-US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92612-E733-48B2-82FF-44C8F5A7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03867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Editorial">
      <a:majorFont>
        <a:latin typeface="Haettenschweiler" panose="020B0706040902060204"/>
        <a:ea typeface=""/>
        <a:cs typeface=""/>
      </a:majorFont>
      <a:minorFont>
        <a:latin typeface="Trade Gothic Next Light"/>
        <a:ea typeface=""/>
        <a:cs typeface="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2F21523F-1450-4BBE-8D19-3F14BB3ECA64}" vid="{44B8AA04-B608-4B8B-B4C4-CA5F4F453F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Editorial</vt:lpstr>
      <vt:lpstr>Transitioning to Scrum-Agile: SNHU Travel Project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704</cp:revision>
  <dcterms:created xsi:type="dcterms:W3CDTF">2026-10-14T18:15:04Z</dcterms:created>
  <dcterms:modified xsi:type="dcterms:W3CDTF">2026-10-18T17:22:59Z</dcterms:modified>
</cp:coreProperties>
</file>